
<file path=[Content_Types].xml><?xml version="1.0" encoding="utf-8"?>
<ns0:Types xmlns:ns0="http://schemas.openxmlformats.org/package/2006/content-types">
  <ns0:Default Extension="bin" ContentType="application/vnd.openxmlformats-officedocument.presentationml.printerSettings"/>
  <ns0:Default Extension="jpeg" ContentType="image/jpeg"/>
  <ns0:Default Extension="png" ContentType="image/png"/>
  <ns0:Default Extension="rels" ContentType="application/vnd.openxmlformats-package.relationships+xml"/>
  <ns0:Default Extension="xml" ContentType="application/xml"/>
  <ns0:Override PartName="/docProps/app.xml" ContentType="application/vnd.openxmlformats-officedocument.extended-properties+xml"/>
  <ns0:Override PartName="/docProps/core.xml" ContentType="application/vnd.openxmlformats-package.core-properties+xml"/>
  <ns0:Override PartName="/ppt/presProps.xml" ContentType="application/vnd.openxmlformats-officedocument.presentationml.presProps+xml"/>
  <ns0:Override PartName="/ppt/presentation.xml" ContentType="application/vnd.openxmlformats-officedocument.presentationml.presentation.main+xml"/>
  <ns0:Override PartName="/ppt/slideLayouts/slideLayout1.xml" ContentType="application/vnd.openxmlformats-officedocument.presentationml.slideLayout+xml"/>
  <ns0:Override PartName="/ppt/slideLayouts/slideLayout10.xml" ContentType="application/vnd.openxmlformats-officedocument.presentationml.slideLayout+xml"/>
  <ns0:Override PartName="/ppt/slideLayouts/slideLayout11.xml" ContentType="application/vnd.openxmlformats-officedocument.presentationml.slideLayout+xml"/>
  <ns0:Override PartName="/ppt/slideLayouts/slideLayout2.xml" ContentType="application/vnd.openxmlformats-officedocument.presentationml.slideLayout+xml"/>
  <ns0:Override PartName="/ppt/slideLayouts/slideLayout3.xml" ContentType="application/vnd.openxmlformats-officedocument.presentationml.slideLayout+xml"/>
  <ns0:Override PartName="/ppt/slideLayouts/slideLayout4.xml" ContentType="application/vnd.openxmlformats-officedocument.presentationml.slideLayout+xml"/>
  <ns0:Override PartName="/ppt/slideLayouts/slideLayout5.xml" ContentType="application/vnd.openxmlformats-officedocument.presentationml.slideLayout+xml"/>
  <ns0:Override PartName="/ppt/slideLayouts/slideLayout6.xml" ContentType="application/vnd.openxmlformats-officedocument.presentationml.slideLayout+xml"/>
  <ns0:Override PartName="/ppt/slideLayouts/slideLayout7.xml" ContentType="application/vnd.openxmlformats-officedocument.presentationml.slideLayout+xml"/>
  <ns0:Override PartName="/ppt/slideLayouts/slideLayout8.xml" ContentType="application/vnd.openxmlformats-officedocument.presentationml.slideLayout+xml"/>
  <ns0:Override PartName="/ppt/slideLayouts/slideLayout9.xml" ContentType="application/vnd.openxmlformats-officedocument.presentationml.slideLayout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s/slide2.xml" ContentType="application/vnd.openxmlformats-officedocument.presentationml.slide+xml"/>
  <ns0:Override PartName="/ppt/slides/slide3.xml" ContentType="application/vnd.openxmlformats-officedocument.presentationml.slide+xml"/>
  <ns0:Override PartName="/ppt/slides/slide4.xml" ContentType="application/vnd.openxmlformats-officedocument.presentationml.slide+xml"/>
  <ns0:Override PartName="/ppt/slides/slide5.xml" ContentType="application/vnd.openxmlformats-officedocument.presentationml.slide+xml"/>
  <ns0:Override PartName="/ppt/slides/slide6.xml" ContentType="application/vnd.openxmlformats-officedocument.presentationml.slide+xml"/>
  <ns0:Override PartName="/ppt/tableStyles.xml" ContentType="application/vnd.openxmlformats-officedocument.presentationml.tableStyles+xml"/>
  <ns0:Override PartName="/ppt/theme/theme1.xml" ContentType="application/vnd.openxmlformats-officedocument.theme+xml"/>
  <ns0:Override PartName="/ppt/viewProps.xml" ContentType="application/vnd.openxmlformats-officedocument.presentationml.viewProps+xml"/>
  <ns0:Default Extension="fntdata" ContentType="application/x-fontdata"/>
</ns0: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ns0:presentation xmlns:ns0="http://schemas.openxmlformats.org/presentationml/2006/main" xmlns:ns1="http://schemas.openxmlformats.org/officeDocument/2006/relationships" xmlns:ns2="http://schemas.openxmlformats.org/drawingml/2006/main" saveSubsetFonts="1" autoCompressPictures="0" embedTrueTypeFonts="1">
  <ns0:sldMasterIdLst>
    <ns0:sldMasterId id="2147483648" ns1:id="rId1"/>
  </ns0:sldMasterIdLst>
  <ns0:sldIdLst>
    <ns0:sldId id="256" ns1:id="rId7"/>
    <ns0:sldId id="257" ns1:id="rId8"/>
    <ns0:sldId id="258" ns1:id="rId9"/>
    <ns0:sldId id="259" ns1:id="rId10"/>
    <ns0:sldId id="260" ns1:id="rId11"/>
    <ns0:sldId id="261" ns1:id="rId12"/>
  </ns0:sldIdLst>
  <ns0:sldSz cx="12192000" cy="6858000" type="screen4x3"/>
  <ns0:notesSz cx="6858000" cy="9144000"/>
  <ns0:embeddedFontLst>
    <ns0:embeddedFont>
      <ns0:font typeface="Inter"/>
      <ns0:bold ns1:id="rIdFont13"/>
      <ns0:regular ns1:id="rIdFont14"/>
    </ns0:embeddedFont>
  </ns0:embeddedFontLst>
  <ns0:defaultTextStyle>
    <ns2:defPPr>
      <ns2:defRPr lang="en-US"/>
    </ns2:defPPr>
    <ns2:lvl1pPr marL="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1pPr>
    <ns2:lvl2pPr marL="457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2pPr>
    <ns2:lvl3pPr marL="914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3pPr>
    <ns2:lvl4pPr marL="1371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4pPr>
    <ns2:lvl5pPr marL="18288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5pPr>
    <ns2:lvl6pPr marL="22860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6pPr>
    <ns2:lvl7pPr marL="27432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7pPr>
    <ns2:lvl8pPr marL="32004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8pPr>
    <ns2:lvl9pPr marL="3657600" algn="l" defTabSz="457200" rtl="0" eaLnBrk="1" latinLnBrk="0" hangingPunct="1">
      <ns2:defRPr sz="1800" kern="1200">
        <ns2:solidFill>
          <ns2:schemeClr val="tx1"/>
        </ns2:solidFill>
        <ns2:latin typeface="+mn-lt"/>
        <ns2:ea typeface="+mn-ea"/>
        <ns2:cs typeface="+mn-cs"/>
      </ns2:defRPr>
    </ns2:lvl9pPr>
  </ns0:defaultTextStyle>
</ns0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?>
<ns0:Relationships xmlns:ns0="http://schemas.openxmlformats.org/package/2006/relationships"><ns0:Relationship Id="rId1" Type="http://schemas.openxmlformats.org/officeDocument/2006/relationships/slideMaster" Target="slideMasters/slideMaster1.xml" /><ns0:Relationship Id="rId2" Type="http://schemas.openxmlformats.org/officeDocument/2006/relationships/printerSettings" Target="printerSettings/printerSettings1.bin" /><ns0:Relationship Id="rId3" Type="http://schemas.openxmlformats.org/officeDocument/2006/relationships/presProps" Target="presProps.xml" /><ns0:Relationship Id="rId4" Type="http://schemas.openxmlformats.org/officeDocument/2006/relationships/viewProps" Target="viewProps.xml" /><ns0:Relationship Id="rId5" Type="http://schemas.openxmlformats.org/officeDocument/2006/relationships/theme" Target="theme/theme1.xml" /><ns0:Relationship Id="rId6" Type="http://schemas.openxmlformats.org/officeDocument/2006/relationships/tableStyles" Target="tableStyles.xml" /><ns0:Relationship Id="rId7" Type="http://schemas.openxmlformats.org/officeDocument/2006/relationships/slide" Target="slides/slide1.xml" /><ns0:Relationship Id="rId8" Type="http://schemas.openxmlformats.org/officeDocument/2006/relationships/slide" Target="slides/slide2.xml" /><ns0:Relationship Id="rId9" Type="http://schemas.openxmlformats.org/officeDocument/2006/relationships/slide" Target="slides/slide3.xml" /><ns0:Relationship Id="rId10" Type="http://schemas.openxmlformats.org/officeDocument/2006/relationships/slide" Target="slides/slide4.xml" /><ns0:Relationship Id="rId11" Type="http://schemas.openxmlformats.org/officeDocument/2006/relationships/slide" Target="slides/slide5.xml" /><ns0:Relationship Id="rId12" Type="http://schemas.openxmlformats.org/officeDocument/2006/relationships/slide" Target="slides/slide6.xml" /><ns0:Relationship Id="rIdFont13" Type="http://schemas.openxmlformats.org/officeDocument/2006/relationships/font" Target="fonts/0e413e3e-b022-407a-b597-6118fc0ac34e.fntdata" /><ns0:Relationship Id="rIdFont14" Type="http://schemas.openxmlformats.org/officeDocument/2006/relationships/font" Target="fonts/ac605816-3512-420b-aca4-9cbc0bcbc42b.fntdata" /></ns0: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62000" y="4461420"/>
            <a:ext cx="1238250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305050" y="4461420"/>
            <a:ext cx="3000375" cy="371475"/>
          </a:xfrm>
          <a:prstGeom prst="rect">
            <a:avLst/>
          </a:prstGeom>
          <a:noFill/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62000" y="4461420"/>
            <a:ext cx="28575" cy="3714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2305050" y="4461420"/>
            <a:ext cx="28575" cy="371475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62000" y="2025104"/>
            <a:ext cx="114300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38BDF8"/>
                </a:solidFill>
                <a:latin typeface="Inter"/>
              </a:rPr>
              <a:t>NLP &amp; TRANSFORMER-BASED PROJECT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2000" y="2368004"/>
            <a:ext cx="9101137" cy="100756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3967"/>
              </a:lnSpc>
            </a:pPr>
            <a:r>
              <a:rPr b="1" sz="3450" i="0" u="none">
                <a:solidFill>
                  <a:srgbClr val="FFFFFF"/>
                </a:solidFill>
                <a:latin typeface="Inter"/>
              </a:rPr>
              <a:t>Comparative NLP Sentiment Analysis: Fine-Tuned DistilBERT vs. TF-IDF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604170"/>
            <a:ext cx="7239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350" i="0" u="none">
                <a:solidFill>
                  <a:srgbClr val="94A3B8"/>
                </a:solidFill>
                <a:latin typeface="Inter"/>
              </a:rPr>
              <a:t>Fine-tuning pre-trained transformer architectures for 3-class text classification on TripAdvisor customer reviews.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42975" y="4461420"/>
            <a:ext cx="13430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Author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2975" y="4642395"/>
            <a:ext cx="1343025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Mourine Lagat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486025" y="4461420"/>
            <a:ext cx="352425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64748B"/>
                </a:solidFill>
                <a:latin typeface="Inter"/>
              </a:rPr>
              <a:t>Task Focus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486025" y="4642395"/>
            <a:ext cx="35242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8FAFC"/>
                </a:solidFill>
                <a:latin typeface="Inter"/>
              </a:rPr>
              <a:t>Transformer-Based Text Classification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514475"/>
            <a:ext cx="5372100" cy="4810125"/>
          </a:xfrm>
          <a:prstGeom prst="roundRect">
            <a:avLst>
              <a:gd name="adj" fmla="val 23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514475"/>
            <a:ext cx="5372100" cy="4810125"/>
          </a:xfrm>
          <a:prstGeom prst="roundRect">
            <a:avLst>
              <a:gd name="adj" fmla="val 2376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3286125"/>
            <a:ext cx="381000" cy="3810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15100" y="3286125"/>
            <a:ext cx="381000" cy="3810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37" y="3381375"/>
            <a:ext cx="2381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10350" y="3381375"/>
            <a:ext cx="190500" cy="190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Background &amp; Motivation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98107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Analyzing customer feedback requires capturing complex natural language patterns across all sentiment spectrums.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819525"/>
            <a:ext cx="6250781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TripAdvisor Review Data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24325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Unstructured customer feedback spans negative, neutral, and positive ratings, requiring automated sentiment categorisation.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5100" y="3819525"/>
            <a:ext cx="5676900" cy="2286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500" i="0" u="none">
                <a:solidFill>
                  <a:srgbClr val="0F172A"/>
                </a:solidFill>
                <a:latin typeface="Inter"/>
              </a:rPr>
              <a:t>Need for Contextual NLP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5100" y="4124325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Evaluating classical frequency models (TF-IDF) against deep contextual transformers (DistilBERT) across balanced class metrics.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995487"/>
            <a:ext cx="5372100" cy="3848100"/>
          </a:xfrm>
          <a:prstGeom prst="roundRect">
            <a:avLst>
              <a:gd name="adj" fmla="val 2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210300" y="1995487"/>
            <a:ext cx="5372100" cy="3848100"/>
          </a:xfrm>
          <a:prstGeom prst="roundRect">
            <a:avLst>
              <a:gd name="adj" fmla="val 297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Project Scope &amp; Implementation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9600" y="98107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Fulfilling the NLP assignment requirements through custom implementation and empirical testing.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05187"/>
            <a:ext cx="595312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TASK REQUIREMENT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643312"/>
            <a:ext cx="6250781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Pretrained Transformer Fine-Tuning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4005262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Custom fine-tuning of DistilBERT on a multi-class sentiment task using Hugging Face Transformers and PyTorch.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15100" y="3405187"/>
            <a:ext cx="5676900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284C7"/>
                </a:solidFill>
                <a:latin typeface="Inter"/>
              </a:rPr>
              <a:t>BENCHMARK METHOD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15100" y="3643312"/>
            <a:ext cx="5676900" cy="2476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650" i="0" u="none">
                <a:solidFill>
                  <a:srgbClr val="0F172A"/>
                </a:solidFill>
                <a:latin typeface="Inter"/>
              </a:rPr>
              <a:t>Baseline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15100" y="4005262"/>
            <a:ext cx="4857750" cy="42862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b="0" sz="1125" i="0" u="none">
                <a:solidFill>
                  <a:srgbClr val="475569"/>
                </a:solidFill>
                <a:latin typeface="Inter"/>
              </a:rPr>
              <a:t>Constructing a TF-IDF baseline classifier to measure precision, recall, and F1 performance gains from fine-tuning.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2986087"/>
            <a:ext cx="2421731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3459956" y="2986087"/>
            <a:ext cx="2421731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310312" y="2986087"/>
            <a:ext cx="2421731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60668" y="2986087"/>
            <a:ext cx="2421731" cy="1905000"/>
          </a:xfrm>
          <a:prstGeom prst="roundRect">
            <a:avLst>
              <a:gd name="adj" fmla="val 6000"/>
            </a:avLst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83731" y="3843337"/>
            <a:ext cx="123825" cy="19050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34087" y="3843337"/>
            <a:ext cx="123825" cy="190500"/>
          </a:xfrm>
          <a:prstGeom prst="rect">
            <a:avLst/>
          </a:prstGeom>
        </p:spPr>
      </p:pic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84443" y="3843337"/>
            <a:ext cx="123825" cy="19050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609600" y="533400"/>
            <a:ext cx="11582400" cy="3714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400" i="0" u="none">
                <a:solidFill>
                  <a:srgbClr val="0F172A"/>
                </a:solidFill>
                <a:latin typeface="Inter"/>
              </a:rPr>
              <a:t>Data Pipeline &amp; Model Setup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9600" y="981075"/>
            <a:ext cx="1158240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64748B"/>
                </a:solidFill>
                <a:latin typeface="Inter"/>
              </a:rPr>
              <a:t>End-to-end classification pipeline for processing 3-class sentiment reviews.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6300" y="3457575"/>
            <a:ext cx="236041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PHASE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6300" y="3657600"/>
            <a:ext cx="24784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Label Remapping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6300" y="3933825"/>
            <a:ext cx="1983581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3-class mapping: Negative (0), Neutral (1), and Positive (2).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26656" y="3538537"/>
            <a:ext cx="236041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PHASE 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26656" y="3738562"/>
            <a:ext cx="24784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Tokenization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26656" y="4014787"/>
            <a:ext cx="198358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DistilBERT Uncased tokenizer generating sequence tensors.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77012" y="3538537"/>
            <a:ext cx="236041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PHASE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77012" y="3738562"/>
            <a:ext cx="24784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Fine-Tuning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77012" y="4014787"/>
            <a:ext cx="1983581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PyTorch execution with Hugging Face Trainer on GPU.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27368" y="3457575"/>
            <a:ext cx="2360414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0284C7"/>
                </a:solidFill>
                <a:latin typeface="Inter"/>
              </a:rPr>
              <a:t>PHASE 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427368" y="3657600"/>
            <a:ext cx="2478434" cy="2000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350" i="0" u="none">
                <a:solidFill>
                  <a:srgbClr val="0F172A"/>
                </a:solidFill>
                <a:latin typeface="Inter"/>
              </a:rPr>
              <a:t>Evaluation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7368" y="3933825"/>
            <a:ext cx="1983581" cy="48577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050" i="0" u="none">
                <a:solidFill>
                  <a:srgbClr val="475569"/>
                </a:solidFill>
                <a:latin typeface="Inter"/>
              </a:rPr>
              <a:t>Validation reporting for precision, recall, and F1 metrics.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09600" y="1190625"/>
            <a:ext cx="10972800" cy="1476375"/>
          </a:xfrm>
          <a:prstGeom prst="roundRect">
            <a:avLst>
              <a:gd name="adj" fmla="val 7741"/>
            </a:avLst>
          </a:prstGeom>
          <a:solidFill>
            <a:srgbClr val="F8FAFC"/>
          </a:solidFill>
          <a:ln w="9525">
            <a:solidFill>
              <a:srgbClr val="E2E8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847725" y="1857375"/>
            <a:ext cx="1049655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47725" y="2314575"/>
            <a:ext cx="10496550" cy="1524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847725" y="1857375"/>
            <a:ext cx="8817024" cy="152400"/>
          </a:xfrm>
          <a:prstGeom prst="roundRect">
            <a:avLst>
              <a:gd name="adj" fmla="val 50000"/>
            </a:avLst>
          </a:prstGeom>
          <a:solidFill>
            <a:srgbClr val="0284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47725" y="2314575"/>
            <a:ext cx="8570416" cy="152400"/>
          </a:xfrm>
          <a:prstGeom prst="roundRect">
            <a:avLst>
              <a:gd name="adj" fmla="val 50000"/>
            </a:avLst>
          </a:prstGeom>
          <a:solidFill>
            <a:srgbClr val="6474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609600" y="2857500"/>
          <a:ext cx="10972796" cy="1743075"/>
        </p:xfrm>
        <a:graphic>
          <a:graphicData uri="http://schemas.openxmlformats.org/drawingml/2006/table">
            <a:tbl>
              <a:tblPr firstRow="0" bandRow="0">
                <a:lnL>
                  <a:noFill/>
                </a:lnL>
                <a:lnR>
                  <a:noFill/>
                </a:lnR>
                <a:lnT>
                  <a:noFill/>
                </a:lnT>
                <a:lnB>
                  <a:noFill/>
                </a:lnB>
                <a:lnV>
                  <a:noFill/>
                </a:lnV>
                <a:lnH>
                  <a:noFill/>
                </a:lnH>
              </a:tblPr>
              <a:tblGrid>
                <a:gridCol w="2071389"/>
                <a:gridCol w="1881931"/>
                <a:gridCol w="1657052"/>
                <a:gridCol w="1337518"/>
                <a:gridCol w="1597967"/>
                <a:gridCol w="1372939"/>
                <a:gridCol w="1054000"/>
              </a:tblGrid>
              <a:tr h="34861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Inter"/>
                        </a:rPr>
                        <a:t>Class / Metric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Inter"/>
                        </a:rPr>
                        <a:t>DistilBERT Precision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Inter"/>
                        </a:rPr>
                        <a:t>DistilBERT Recall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Inter"/>
                        </a:rPr>
                        <a:t>DistilBERT F1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Inter"/>
                        </a:rPr>
                        <a:t>TF-IDF Precision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Inter"/>
                        </a:rPr>
                        <a:t>TF-IDF Recall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FFFFFF"/>
                          </a:solidFill>
                          <a:latin typeface="Inter"/>
                        </a:rPr>
                        <a:t>TF-IDF F1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00000"/>
                          </a:solidFill>
                          <a:latin typeface="Inter"/>
                        </a:rPr>
                        <a:t>Negative (0)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284C7"/>
                          </a:solidFill>
                          <a:latin typeface="Inter"/>
                        </a:rPr>
                        <a:t>0.91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0.84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0.88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284C7"/>
                          </a:solidFill>
                          <a:latin typeface="Inter"/>
                        </a:rPr>
                        <a:t>0.90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0.87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00000"/>
                          </a:solidFill>
                          <a:latin typeface="Inter"/>
                        </a:rPr>
                        <a:t>Neutral (1)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0.60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284C7"/>
                          </a:solidFill>
                          <a:latin typeface="Inter"/>
                        </a:rPr>
                        <a:t>0.67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284C7"/>
                          </a:solidFill>
                          <a:latin typeface="Inter"/>
                        </a:rPr>
                        <a:t>0.63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284C7"/>
                          </a:solidFill>
                          <a:latin typeface="Inter"/>
                        </a:rPr>
                        <a:t>0.62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0.45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0.52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8FAFC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00000"/>
                          </a:solidFill>
                          <a:latin typeface="Inter"/>
                        </a:rPr>
                        <a:t>Positive (2)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284C7"/>
                          </a:solidFill>
                          <a:latin typeface="Inter"/>
                        </a:rPr>
                        <a:t>0.90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0.92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284C7"/>
                          </a:solidFill>
                          <a:latin typeface="Inter"/>
                        </a:rPr>
                        <a:t>0.91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0.92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0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0.88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8615"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00000"/>
                          </a:solidFill>
                          <a:latin typeface="Inter"/>
                        </a:rPr>
                        <a:t>Weighted Avg / Overall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284C7"/>
                          </a:solidFill>
                          <a:latin typeface="Inter"/>
                        </a:rPr>
                        <a:t>0.85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0.84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284C7"/>
                          </a:solidFill>
                          <a:latin typeface="Inter"/>
                        </a:rPr>
                        <a:t>0.84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0.80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0.82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b="1" sz="975" i="0" u="none">
                          <a:solidFill>
                            <a:srgbClr val="000000"/>
                          </a:solidFill>
                          <a:latin typeface="Inter"/>
                        </a:rPr>
                        <a:t>0.81</a:t>
                      </a:r>
                    </a:p>
                  </a:txBody>
                  <a:tcPr anchor="ctr" marL="63500" marR="63500" marT="25400" marB="2540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09600" y="457200"/>
            <a:ext cx="11582400" cy="32385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100" i="0" u="none">
                <a:solidFill>
                  <a:srgbClr val="0F172A"/>
                </a:solidFill>
                <a:latin typeface="Inter"/>
              </a:rPr>
              <a:t>Results &amp; Model Comparison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9600" y="819150"/>
            <a:ext cx="11582400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0" sz="1125" i="0" u="none">
                <a:solidFill>
                  <a:srgbClr val="64748B"/>
                </a:solidFill>
                <a:latin typeface="Inter"/>
              </a:rPr>
              <a:t>Empirical evaluation across overall accuracy and class-level precision, recall, and F1 scores.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7725" y="1390650"/>
            <a:ext cx="11344275" cy="1619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050" i="0" u="none">
                <a:solidFill>
                  <a:srgbClr val="0F172A"/>
                </a:solidFill>
                <a:latin typeface="Inter"/>
              </a:rPr>
              <a:t>Accuracy Score Visual Comparison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7725" y="1666875"/>
            <a:ext cx="1774031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DistilBERT (Fine-Tuned)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848975" y="1666875"/>
            <a:ext cx="7810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0284C7"/>
                </a:solidFill>
                <a:latin typeface="Inter"/>
              </a:rPr>
              <a:t>84.00%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7725" y="2124075"/>
            <a:ext cx="1238250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TF-IDF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896600" y="2124075"/>
            <a:ext cx="733425" cy="1524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75" i="0" u="none">
                <a:solidFill>
                  <a:srgbClr val="64748B"/>
                </a:solidFill>
                <a:latin typeface="Inter"/>
              </a:rPr>
              <a:t>81.65%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0" y="4395787"/>
            <a:ext cx="10668000" cy="742950"/>
          </a:xfrm>
          <a:prstGeom prst="roundRect">
            <a:avLst>
              <a:gd name="adj" fmla="val 15384"/>
            </a:avLst>
          </a:prstGeom>
          <a:solidFill>
            <a:srgbClr val="1E293B"/>
          </a:solidFill>
          <a:ln w="9525">
            <a:solidFill>
              <a:srgbClr val="33415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2000" y="2947987"/>
            <a:ext cx="5200650" cy="1104900"/>
          </a:xfrm>
          <a:prstGeom prst="roundRect">
            <a:avLst>
              <a:gd name="adj" fmla="val 1034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229350" y="2947987"/>
            <a:ext cx="5200650" cy="1104900"/>
          </a:xfrm>
          <a:prstGeom prst="roundRect">
            <a:avLst>
              <a:gd name="adj" fmla="val 10344"/>
            </a:avLst>
          </a:prstGeom>
          <a:solidFill>
            <a:srgbClr val="1E293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62000" y="2947987"/>
            <a:ext cx="38100" cy="11049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229350" y="2947987"/>
            <a:ext cx="38100" cy="1104900"/>
          </a:xfrm>
          <a:prstGeom prst="rect">
            <a:avLst/>
          </a:prstGeom>
          <a:solidFill>
            <a:srgbClr val="38BD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8225" y="4614862"/>
            <a:ext cx="295275" cy="30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762000" y="1719262"/>
            <a:ext cx="11430000" cy="39052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2550" i="0" u="none">
                <a:solidFill>
                  <a:srgbClr val="FFFFFF"/>
                </a:solidFill>
                <a:latin typeface="Inter"/>
              </a:rPr>
              <a:t>Conclusion &amp; GitHub Repository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2224087"/>
            <a:ext cx="81915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b="0" sz="1200" i="0" u="none">
                <a:solidFill>
                  <a:srgbClr val="94A3B8"/>
                </a:solidFill>
                <a:latin typeface="Inter"/>
              </a:rPr>
              <a:t>Fine-tuning transformer models yields consistent accuracy gains across multi-class sentiment tasks over frequency-based baselines.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8700" y="3176587"/>
            <a:ext cx="6175771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Inter"/>
              </a:rPr>
              <a:t>Key Lesson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8700" y="3424237"/>
            <a:ext cx="4800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Inter"/>
              </a:rPr>
              <a:t>DistilBERT achieved an overall accuracy of 84.00%, outperforming TF-IDF (81.65%) while providing balanced performance across classes.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6050" y="3176587"/>
            <a:ext cx="5695950" cy="190500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75" i="0" u="none">
                <a:solidFill>
                  <a:srgbClr val="FFFFFF"/>
                </a:solidFill>
                <a:latin typeface="Inter"/>
              </a:rPr>
              <a:t>Requirement Fulfilled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6050" y="3424237"/>
            <a:ext cx="48006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b="0" sz="1050" i="0" u="none">
                <a:solidFill>
                  <a:srgbClr val="CBD5E1"/>
                </a:solidFill>
                <a:latin typeface="Inter"/>
              </a:rPr>
              <a:t>Self-implemented NLP classification pipeline, pre-trained model fine-tuning, and empirical evaluation complete.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5900" y="4595812"/>
            <a:ext cx="6973527" cy="1428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900" i="0" u="none">
                <a:solidFill>
                  <a:srgbClr val="94A3B8"/>
                </a:solidFill>
                <a:latin typeface="Inter"/>
              </a:rPr>
              <a:t>PROJECT REPOSITORY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85900" y="4757737"/>
            <a:ext cx="6973527" cy="180975"/>
          </a:xfrm>
          <a:prstGeom prst="rect">
            <a:avLst/>
          </a:prstGeom>
          <a:noFill/>
        </p:spPr>
        <p:txBody>
          <a:bodyPr wrap="none" lIns="0" rIns="0" tIns="0" bIns="0" anchor="t">
            <a:spAutoFit/>
          </a:bodyPr>
          <a:lstStyle/>
          <a:p>
            <a:pPr algn="l"/>
            <a:r>
              <a:rPr b="1" sz="1200" i="0" u="none">
                <a:solidFill>
                  <a:srgbClr val="FFFFFF"/>
                </a:solidFill>
                <a:latin typeface="monospace"/>
              </a:rPr>
              <a:t>https://github.com/Mourine2000/tripadvisor-sentiment-analysis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